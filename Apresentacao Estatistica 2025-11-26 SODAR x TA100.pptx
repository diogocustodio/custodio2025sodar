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68a931b41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68a931b4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93de3892f_0_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93de3892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3de3892f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93de3892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3de3892f_0_1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93de3892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6f0a4d9c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6f0a4d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3de3892f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3de3892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93de3892f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93de3892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93de3892f_0_1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93de3892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3de3892f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3de3892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93de3892f_0_1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93de3892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93de3892f_0_2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93de3892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6.jpg"/><Relationship Id="rId6" Type="http://schemas.openxmlformats.org/officeDocument/2006/relationships/image" Target="../media/image8.jpg"/><Relationship Id="rId7" Type="http://schemas.openxmlformats.org/officeDocument/2006/relationships/image" Target="../media/image27.png"/><Relationship Id="rId8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4.jp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pn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hyperlink" Target="http://drive.google.com/file/d/1Kc1jXc_pcTxxNIpaqflUkrD7w6Lkttap/view" TargetMode="External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6.jpg"/><Relationship Id="rId5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25.png"/><Relationship Id="rId12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782650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Verificação da velocidade do vento medida por </a:t>
            </a:r>
            <a:b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SODAR e Torre Anemométrica em aplicações</a:t>
            </a:r>
            <a:b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de Meteorologia Aeroespacial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329050" y="5979325"/>
            <a:ext cx="4485900" cy="46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F3F3F3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Diogo M Custodio / Novembro 2025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167125"/>
            <a:ext cx="8520600" cy="162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F3F3F3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/>
              <a:t>Métodos estatísticos para detecção</a:t>
            </a:r>
            <a:br>
              <a:rPr lang="pt-BR" sz="2800"/>
            </a:br>
            <a:r>
              <a:rPr lang="pt-BR" sz="2800"/>
              <a:t>e análise de eventos extremos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35025" r="33499" t="0"/>
          <a:stretch/>
        </p:blipFill>
        <p:spPr>
          <a:xfrm>
            <a:off x="7950973" y="88100"/>
            <a:ext cx="1028700" cy="12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66684" t="0"/>
          <a:stretch/>
        </p:blipFill>
        <p:spPr>
          <a:xfrm>
            <a:off x="132733" y="88100"/>
            <a:ext cx="1088850" cy="12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740" l="18227" r="0" t="3651"/>
          <a:stretch/>
        </p:blipFill>
        <p:spPr>
          <a:xfrm>
            <a:off x="178651" y="1690290"/>
            <a:ext cx="3765699" cy="4462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4"/>
          <p:cNvCxnSpPr/>
          <p:nvPr/>
        </p:nvCxnSpPr>
        <p:spPr>
          <a:xfrm>
            <a:off x="2655443" y="2903642"/>
            <a:ext cx="579000" cy="114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4"/>
          <p:cNvCxnSpPr/>
          <p:nvPr/>
        </p:nvCxnSpPr>
        <p:spPr>
          <a:xfrm flipH="1">
            <a:off x="2777650" y="1785350"/>
            <a:ext cx="4086300" cy="993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4"/>
          <p:cNvCxnSpPr/>
          <p:nvPr/>
        </p:nvCxnSpPr>
        <p:spPr>
          <a:xfrm>
            <a:off x="2778888" y="2903397"/>
            <a:ext cx="4084500" cy="115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4"/>
          <p:cNvCxnSpPr/>
          <p:nvPr/>
        </p:nvCxnSpPr>
        <p:spPr>
          <a:xfrm flipH="1">
            <a:off x="2653775" y="1790400"/>
            <a:ext cx="564600" cy="989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Motivação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00350" y="1003225"/>
            <a:ext cx="85206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DCTA | IAE | </a:t>
            </a: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METEOROLOGIA AEROESPACIAL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CLA | CLBI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/>
          <p:nvPr/>
        </p:nvSpPr>
        <p:spPr>
          <a:xfrm flipH="1">
            <a:off x="2654592" y="2778835"/>
            <a:ext cx="123600" cy="1236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100" lIns="43100" spcFirstLastPara="1" rIns="43100" wrap="square" tIns="4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481" y="1782132"/>
            <a:ext cx="3645838" cy="228535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4"/>
          <p:cNvSpPr/>
          <p:nvPr/>
        </p:nvSpPr>
        <p:spPr>
          <a:xfrm>
            <a:off x="5267218" y="3192459"/>
            <a:ext cx="533700" cy="564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" name="Google Shape;73;p14"/>
          <p:cNvGrpSpPr/>
          <p:nvPr/>
        </p:nvGrpSpPr>
        <p:grpSpPr>
          <a:xfrm>
            <a:off x="7011170" y="2079218"/>
            <a:ext cx="1971269" cy="1454444"/>
            <a:chOff x="311694" y="3354325"/>
            <a:chExt cx="2863967" cy="2113096"/>
          </a:xfrm>
        </p:grpSpPr>
        <p:pic>
          <p:nvPicPr>
            <p:cNvPr id="74" name="Google Shape;74;p14"/>
            <p:cNvPicPr preferRelativeResize="0"/>
            <p:nvPr/>
          </p:nvPicPr>
          <p:blipFill rotWithShape="1">
            <a:blip r:embed="rId5">
              <a:alphaModFix/>
            </a:blip>
            <a:srcRect b="0" l="18285" r="26721" t="0"/>
            <a:stretch/>
          </p:blipFill>
          <p:spPr>
            <a:xfrm>
              <a:off x="311694" y="3354341"/>
              <a:ext cx="871577" cy="2113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4"/>
            <p:cNvPicPr preferRelativeResize="0"/>
            <p:nvPr/>
          </p:nvPicPr>
          <p:blipFill rotWithShape="1">
            <a:blip r:embed="rId6">
              <a:alphaModFix/>
            </a:blip>
            <a:srcRect b="8700" l="13329" r="0" t="0"/>
            <a:stretch/>
          </p:blipFill>
          <p:spPr>
            <a:xfrm>
              <a:off x="1248150" y="3354325"/>
              <a:ext cx="1927511" cy="2113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14"/>
          <p:cNvPicPr preferRelativeResize="0"/>
          <p:nvPr/>
        </p:nvPicPr>
        <p:blipFill rotWithShape="1">
          <a:blip r:embed="rId7">
            <a:alphaModFix/>
          </a:blip>
          <a:srcRect b="12480" l="11292" r="0" t="0"/>
          <a:stretch/>
        </p:blipFill>
        <p:spPr>
          <a:xfrm>
            <a:off x="7011178" y="4182077"/>
            <a:ext cx="1971322" cy="20132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4"/>
          <p:cNvCxnSpPr/>
          <p:nvPr/>
        </p:nvCxnSpPr>
        <p:spPr>
          <a:xfrm rot="10800000">
            <a:off x="5800850" y="3207500"/>
            <a:ext cx="407100" cy="100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/>
          <p:nvPr/>
        </p:nvCxnSpPr>
        <p:spPr>
          <a:xfrm>
            <a:off x="5801850" y="3755725"/>
            <a:ext cx="407700" cy="2401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4"/>
          <p:cNvCxnSpPr/>
          <p:nvPr/>
        </p:nvCxnSpPr>
        <p:spPr>
          <a:xfrm flipH="1">
            <a:off x="4595550" y="3753025"/>
            <a:ext cx="671700" cy="2413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4"/>
          <p:cNvCxnSpPr/>
          <p:nvPr/>
        </p:nvCxnSpPr>
        <p:spPr>
          <a:xfrm flipH="1" rot="10800000">
            <a:off x="4597125" y="3191200"/>
            <a:ext cx="678600" cy="102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" name="Google Shape;8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91328" y="4204172"/>
            <a:ext cx="1621864" cy="196217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4"/>
          <p:cNvSpPr txBox="1"/>
          <p:nvPr/>
        </p:nvSpPr>
        <p:spPr>
          <a:xfrm>
            <a:off x="6937623" y="1691762"/>
            <a:ext cx="18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TA100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7018941" y="3802047"/>
            <a:ext cx="18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SODAR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Motivação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70450" y="1544786"/>
            <a:ext cx="10816301" cy="268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5"/>
          <p:cNvGrpSpPr/>
          <p:nvPr/>
        </p:nvGrpSpPr>
        <p:grpSpPr>
          <a:xfrm>
            <a:off x="164093" y="4337525"/>
            <a:ext cx="8759501" cy="2368075"/>
            <a:chOff x="164093" y="1594325"/>
            <a:chExt cx="8759501" cy="2368075"/>
          </a:xfrm>
        </p:grpSpPr>
        <p:pic>
          <p:nvPicPr>
            <p:cNvPr descr="D:\IAE-ACA\Centros de Lançamento\Alcântara - CLA\foto010.jpg" id="91" name="Google Shape;9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70994" y="1594325"/>
              <a:ext cx="3552600" cy="2367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5"/>
            <p:cNvPicPr preferRelativeResize="0"/>
            <p:nvPr/>
          </p:nvPicPr>
          <p:blipFill rotWithShape="1">
            <a:blip r:embed="rId5">
              <a:alphaModFix/>
            </a:blip>
            <a:srcRect b="0" l="0" r="25222" t="0"/>
            <a:stretch/>
          </p:blipFill>
          <p:spPr>
            <a:xfrm>
              <a:off x="164093" y="1594378"/>
              <a:ext cx="2659775" cy="2367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900006" y="1594425"/>
              <a:ext cx="2384668" cy="2367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00350" y="1003225"/>
            <a:ext cx="85206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DCTA | IAE | </a:t>
            </a: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METEOROLOGIA AEROESPACIAL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CLA | CLBI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4871000" y="1167908"/>
            <a:ext cx="41241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TA100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Tecnologias consolidadas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Medidas </a:t>
            </a:r>
            <a:r>
              <a:rPr i="1"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in-situ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metros de altura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n</a:t>
            </a: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íveis (10m, 20m...100m)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Anemômetro sônico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orre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nemométrica de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b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 b="8700" l="13329" r="0" t="0"/>
          <a:stretch/>
        </p:blipFill>
        <p:spPr>
          <a:xfrm>
            <a:off x="5064023" y="3420600"/>
            <a:ext cx="3000945" cy="3289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6"/>
          <p:cNvGrpSpPr/>
          <p:nvPr/>
        </p:nvGrpSpPr>
        <p:grpSpPr>
          <a:xfrm>
            <a:off x="140385" y="1161114"/>
            <a:ext cx="4627883" cy="5549334"/>
            <a:chOff x="0" y="1081625"/>
            <a:chExt cx="3387413" cy="4061875"/>
          </a:xfrm>
        </p:grpSpPr>
        <p:pic>
          <p:nvPicPr>
            <p:cNvPr id="103" name="Google Shape;103;p16"/>
            <p:cNvPicPr preferRelativeResize="0"/>
            <p:nvPr/>
          </p:nvPicPr>
          <p:blipFill rotWithShape="1">
            <a:blip r:embed="rId4">
              <a:alphaModFix/>
            </a:blip>
            <a:srcRect b="17265" l="38601" r="42145" t="1486"/>
            <a:stretch/>
          </p:blipFill>
          <p:spPr>
            <a:xfrm>
              <a:off x="0" y="1081625"/>
              <a:ext cx="1712025" cy="406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6"/>
            <p:cNvPicPr preferRelativeResize="0"/>
            <p:nvPr/>
          </p:nvPicPr>
          <p:blipFill rotWithShape="1">
            <a:blip r:embed="rId5">
              <a:alphaModFix/>
            </a:blip>
            <a:srcRect b="0" l="18285" r="26721" t="0"/>
            <a:stretch/>
          </p:blipFill>
          <p:spPr>
            <a:xfrm>
              <a:off x="1712025" y="1081625"/>
              <a:ext cx="1675388" cy="406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304800" y="1542605"/>
            <a:ext cx="42603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SODAR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Novas tecnologias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Sensoriamento remoto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Medida indireta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Grande alcance (500m)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nic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etection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nd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anging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(Detecç</a:t>
            </a: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ão e Alcance Sônico)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9" y="3596751"/>
            <a:ext cx="3788400" cy="26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 rotWithShape="1">
          <a:blip r:embed="rId4">
            <a:alphaModFix/>
          </a:blip>
          <a:srcRect b="0" l="17989" r="17159" t="0"/>
          <a:stretch/>
        </p:blipFill>
        <p:spPr>
          <a:xfrm>
            <a:off x="4240635" y="1542600"/>
            <a:ext cx="4210941" cy="47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150451"/>
            <a:ext cx="8520600" cy="13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nic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etection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nd </a:t>
            </a:r>
            <a:r>
              <a:rPr lang="pt-BR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anging</a:t>
            </a:r>
            <a:br>
              <a:rPr lang="pt-BR" sz="11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900">
                <a:latin typeface="Times New Roman"/>
                <a:ea typeface="Times New Roman"/>
                <a:cs typeface="Times New Roman"/>
                <a:sym typeface="Times New Roman"/>
              </a:rPr>
              <a:t>Princípio de Funcionamento</a:t>
            </a:r>
            <a:endParaRPr sz="7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09513" y="1350661"/>
            <a:ext cx="5128703" cy="512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163754" y="6190114"/>
            <a:ext cx="507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</a:rPr>
              <a:t>https://askabiologist.asu.edu/echolocation</a:t>
            </a:r>
            <a:endParaRPr sz="800">
              <a:solidFill>
                <a:schemeClr val="lt1"/>
              </a:solidFill>
            </a:endParaRPr>
          </a:p>
        </p:txBody>
      </p:sp>
      <p:grpSp>
        <p:nvGrpSpPr>
          <p:cNvPr id="120" name="Google Shape;120;p18"/>
          <p:cNvGrpSpPr/>
          <p:nvPr/>
        </p:nvGrpSpPr>
        <p:grpSpPr>
          <a:xfrm>
            <a:off x="5382151" y="1788628"/>
            <a:ext cx="3565377" cy="4277379"/>
            <a:chOff x="5490174" y="1595547"/>
            <a:chExt cx="3184509" cy="3820452"/>
          </a:xfrm>
        </p:grpSpPr>
        <p:pic>
          <p:nvPicPr>
            <p:cNvPr id="121" name="Google Shape;121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90174" y="1595547"/>
              <a:ext cx="3184509" cy="281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8"/>
            <p:cNvPicPr preferRelativeResize="0"/>
            <p:nvPr/>
          </p:nvPicPr>
          <p:blipFill rotWithShape="1">
            <a:blip r:embed="rId5">
              <a:alphaModFix/>
            </a:blip>
            <a:srcRect b="21421" l="18970" r="2314" t="33384"/>
            <a:stretch/>
          </p:blipFill>
          <p:spPr>
            <a:xfrm>
              <a:off x="5490175" y="3644699"/>
              <a:ext cx="3184500" cy="1771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" name="Google Shape;123;p18" title="sodar audio.mp3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9495" y="537036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179100" y="2543501"/>
            <a:ext cx="8785800" cy="1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Geral: </a:t>
            </a: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Comparar e verificar os dados de </a:t>
            </a: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velocidade do vento</a:t>
            </a: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obtidos com o SODAR em relação à Torre Anemométrica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150449"/>
            <a:ext cx="85206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9"/>
          <p:cNvGrpSpPr/>
          <p:nvPr/>
        </p:nvGrpSpPr>
        <p:grpSpPr>
          <a:xfrm>
            <a:off x="2239365" y="3532333"/>
            <a:ext cx="4665270" cy="1926934"/>
            <a:chOff x="2766918" y="3489275"/>
            <a:chExt cx="4665270" cy="1926934"/>
          </a:xfrm>
        </p:grpSpPr>
        <p:pic>
          <p:nvPicPr>
            <p:cNvPr id="131" name="Google Shape;131;p19"/>
            <p:cNvPicPr preferRelativeResize="0"/>
            <p:nvPr/>
          </p:nvPicPr>
          <p:blipFill rotWithShape="1">
            <a:blip r:embed="rId3">
              <a:alphaModFix/>
            </a:blip>
            <a:srcRect b="12480" l="11292" r="0" t="0"/>
            <a:stretch/>
          </p:blipFill>
          <p:spPr>
            <a:xfrm>
              <a:off x="2766918" y="3489413"/>
              <a:ext cx="1829516" cy="18683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19"/>
            <p:cNvSpPr txBox="1"/>
            <p:nvPr/>
          </p:nvSpPr>
          <p:spPr>
            <a:xfrm>
              <a:off x="4638526" y="3945900"/>
              <a:ext cx="6540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600">
                  <a:solidFill>
                    <a:schemeClr val="dk2"/>
                  </a:solidFill>
                </a:rPr>
                <a:t>X</a:t>
              </a:r>
              <a:endParaRPr sz="5600">
                <a:solidFill>
                  <a:schemeClr val="dk2"/>
                </a:solidFill>
              </a:endParaRPr>
            </a:p>
          </p:txBody>
        </p:sp>
        <p:grpSp>
          <p:nvGrpSpPr>
            <p:cNvPr id="133" name="Google Shape;133;p19"/>
            <p:cNvGrpSpPr/>
            <p:nvPr/>
          </p:nvGrpSpPr>
          <p:grpSpPr>
            <a:xfrm>
              <a:off x="5320946" y="3489275"/>
              <a:ext cx="2111242" cy="1926934"/>
              <a:chOff x="5292513" y="3489275"/>
              <a:chExt cx="2111242" cy="1926934"/>
            </a:xfrm>
          </p:grpSpPr>
          <p:pic>
            <p:nvPicPr>
              <p:cNvPr id="134" name="Google Shape;13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18285" r="26721" t="0"/>
              <a:stretch/>
            </p:blipFill>
            <p:spPr>
              <a:xfrm>
                <a:off x="5292513" y="3489292"/>
                <a:ext cx="794791" cy="19269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" name="Google Shape;135;p19"/>
              <p:cNvPicPr preferRelativeResize="0"/>
              <p:nvPr/>
            </p:nvPicPr>
            <p:blipFill rotWithShape="1">
              <a:blip r:embed="rId5">
                <a:alphaModFix/>
              </a:blip>
              <a:srcRect b="8700" l="36216" r="0" t="0"/>
              <a:stretch/>
            </p:blipFill>
            <p:spPr>
              <a:xfrm>
                <a:off x="6110205" y="3489275"/>
                <a:ext cx="1293551" cy="19269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189336" y="5701251"/>
            <a:ext cx="8785800" cy="1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Específico</a:t>
            </a: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Obter </a:t>
            </a: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métricas numéricas e estatísticas sobre a relação entre os dados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311700" y="1341117"/>
            <a:ext cx="85206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Pergunta: O SODAR pode ser usado em substituição/complemento à TA100? Qual a incerteza nas medidas?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563" y="2481263"/>
            <a:ext cx="5476875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341117"/>
            <a:ext cx="85206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Pergunta Extra: O SODAR foi instalado a 6 km da TA100.</a:t>
            </a:r>
            <a:br>
              <a:rPr b="1" lang="pt-BR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pt-BR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medida tem validade?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231375" y="1336475"/>
            <a:ext cx="4260300" cy="4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SODAR SFAS SCINTEC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Torre Anemométrica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anemômetros sônicos RM Young 86000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Dados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Níveis: 10m, 20m, 30m, 40m, 50m, 60m, 70m, 80, 90m, 100m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Intervalo temporal: 30 min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Período: 11/2022 à 11/2023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Gráficos de dispersão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Coeficiente de Correlação de Pearson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Viés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Materiais e Métodos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4570600" y="1332300"/>
            <a:ext cx="4573500" cy="48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Ferramentas</a:t>
            </a: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NumPy, Pandas, SciPy, Matplotlib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Processamento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Selecionados pares pelo instante: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pt-B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SODAR_DATETIME == TA100_DATETIME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emoção outliers: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IQR = Q3 - Q1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 &lt; Q1 - 1,5 * IQR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 &gt; Q3 + 1,5 * IQR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Pontos por nível: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4000:5000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150449"/>
            <a:ext cx="8520600" cy="6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Resultados e Discussão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7" name="Google Shape;157;p22"/>
          <p:cNvGrpSpPr/>
          <p:nvPr/>
        </p:nvGrpSpPr>
        <p:grpSpPr>
          <a:xfrm>
            <a:off x="423890" y="601977"/>
            <a:ext cx="8296220" cy="6256041"/>
            <a:chOff x="463644" y="671250"/>
            <a:chExt cx="8204332" cy="6186750"/>
          </a:xfrm>
        </p:grpSpPr>
        <p:pic>
          <p:nvPicPr>
            <p:cNvPr id="158" name="Google Shape;158;p22" title="100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57600" y="671254"/>
              <a:ext cx="2310376" cy="2310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2" title="070m.png"/>
            <p:cNvPicPr preferRelativeResize="0"/>
            <p:nvPr/>
          </p:nvPicPr>
          <p:blipFill rotWithShape="1">
            <a:blip r:embed="rId4">
              <a:alphaModFix/>
            </a:blip>
            <a:srcRect b="0" l="0" r="3688" t="0"/>
            <a:stretch/>
          </p:blipFill>
          <p:spPr>
            <a:xfrm>
              <a:off x="6357600" y="2617200"/>
              <a:ext cx="2225077" cy="2310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22" title="040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57400" y="4546800"/>
              <a:ext cx="2310376" cy="2310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2" title="090m.png"/>
            <p:cNvPicPr preferRelativeResize="0"/>
            <p:nvPr/>
          </p:nvPicPr>
          <p:blipFill rotWithShape="1">
            <a:blip r:embed="rId6">
              <a:alphaModFix/>
            </a:blip>
            <a:srcRect b="0" l="0" r="3688" t="0"/>
            <a:stretch/>
          </p:blipFill>
          <p:spPr>
            <a:xfrm>
              <a:off x="4395640" y="671250"/>
              <a:ext cx="2225077" cy="2310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060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95633" y="2616082"/>
              <a:ext cx="2279572" cy="22795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2" title="030m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396828" y="4547624"/>
              <a:ext cx="2310376" cy="2310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2" title="080m.png"/>
            <p:cNvPicPr preferRelativeResize="0"/>
            <p:nvPr/>
          </p:nvPicPr>
          <p:blipFill rotWithShape="1">
            <a:blip r:embed="rId9">
              <a:alphaModFix/>
            </a:blip>
            <a:srcRect b="0" l="0" r="3688" t="0"/>
            <a:stretch/>
          </p:blipFill>
          <p:spPr>
            <a:xfrm>
              <a:off x="2425414" y="671250"/>
              <a:ext cx="2225077" cy="2310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22" title="050m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425409" y="2616096"/>
              <a:ext cx="2279572" cy="22795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2" title="020m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425409" y="4547624"/>
              <a:ext cx="2310376" cy="2310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2" title="010m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63644" y="4547624"/>
              <a:ext cx="2310376" cy="2310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25" y="763033"/>
            <a:ext cx="7529349" cy="348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45417" y="4197560"/>
            <a:ext cx="87429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O desempenho do SODAR apresenta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correlação fraca no nível de 10m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, mas correlações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moderadas a fortes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 e consistentes a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partir de 20m de altura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Foi identificado um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viés negativo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, portanto o SODAR tende a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subestimar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 a velocidade do vento em aproximadamente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1,2 a 1,6 m/s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 na maioria dos níveis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acima de 20m.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pt-BR" sz="1700">
                <a:latin typeface="Times New Roman"/>
                <a:ea typeface="Times New Roman"/>
                <a:cs typeface="Times New Roman"/>
                <a:sym typeface="Times New Roman"/>
              </a:rPr>
              <a:t> forte correlação geral indica que o SODAR é capaz de capturar adequadamente a velocidade do vento, podendo ser úteis para aplicações em Meteorologia Aeroespacial, </a:t>
            </a:r>
            <a:r>
              <a:rPr b="1" lang="pt-BR" sz="1700">
                <a:latin typeface="Times New Roman"/>
                <a:ea typeface="Times New Roman"/>
                <a:cs typeface="Times New Roman"/>
                <a:sym typeface="Times New Roman"/>
              </a:rPr>
              <a:t>desde que devidamente consideradas suas incertezas e corrigidas suas tendências sistemáticas.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311700" y="150447"/>
            <a:ext cx="8520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Conclusões</a:t>
            </a:r>
            <a:endParaRPr sz="16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07325" y="1248975"/>
            <a:ext cx="7529400" cy="272100"/>
          </a:xfrm>
          <a:prstGeom prst="rect">
            <a:avLst/>
          </a:prstGeom>
          <a:solidFill>
            <a:srgbClr val="EA9999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806100" y="1521075"/>
            <a:ext cx="7529400" cy="1703400"/>
          </a:xfrm>
          <a:prstGeom prst="rect">
            <a:avLst/>
          </a:prstGeom>
          <a:solidFill>
            <a:srgbClr val="FFF2CC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806100" y="3224600"/>
            <a:ext cx="7529400" cy="924600"/>
          </a:xfrm>
          <a:prstGeom prst="rect">
            <a:avLst/>
          </a:prstGeom>
          <a:solidFill>
            <a:srgbClr val="D9EAD3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</a:t>
            </a:r>
            <a:r>
              <a:rPr lang="pt-BR"/>
              <a:t>ências</a:t>
            </a:r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311700" y="1356875"/>
            <a:ext cx="8520600" cy="52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accent6"/>
                </a:highlight>
              </a:rPr>
              <a:t>CUSTODIO, D. M. Apêndice I: Repositório de código-fonte e dados de verificação entre SODAR e TA100. 2025. &lt;https://github.com/ diogocustodio/custodio2025sodar&gt;. Acesso em: 26 nov. 2025.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BELLINTANI, A. I.; CUSTODIO, S. S. D. O desenvolvimento do setor espacial brasileiro e a vantagem geopolítica espacial: Da Barreira do Inferno a Alcântara. Boletim de Conjuntura (BOCA), v. 17, n. 50, p. 255–272, 2024.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CARUZZO, A.; BELDERRAIN, M. C. N.; FISCH, G. Aplicações da meteorologia nas operações de lançamento de foguetes: uma visão geral da estruturação do problema ao processo decisório. Aplicações Operacionais em Áreas de Defesa, v. 22, p. 65–70, 2021.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CORREA, C. S.; SOUZA, A. S. d.; CARDOSO NETO, A. L. Observational study of breezes using a SODAR wind profiler at the alcântara launch center. Latin American Journal of Development, v. 5, n. 2, p. 582–591, 2023.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CUSTODIO, D. M.; CARDOSO NETO, A. L. Análise preliminar do perfil da velocidade do vento utilizando um sodar para aplicações em operações de lançamentos de foguetes. In: Anais do XXIII Congresso Brasileiro de Meteorologia. Campinas: [s.n.], 2024.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CUSTODIO, D. M.; YAMASAKI, J. Análise da velocidade máxima do vento na Torre Anemométrica de 72m do CLA durante a Operação Rio Verde. In: Anais do VIII Fórum de Pesquisa e Inovação do CLBI. Natal, RN: [s.n.], 2018. v. 1, p. 97–100.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CUSTODIO, D. M. et al. Perfilador de vento no Centro de Lançamento de Alcântara: Uma análise estatística. Ciência E Natura, v. 38, p. 291–294, 2016.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FISCH, G. et al. The wind profile at the alcântara space center: observations and numerical modeling applied to the rocket launching. In: Proceedings of the 14th International Conference on Wind Engineering. Porto Alegre, RS: [s.n.], 2015.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MARQUES, R.; FISCH, G. As atividades de meteorologia aeroespacial no Centro Técnico Aeroespacial (CTA). Boletim da Sociedade Brasileira de Meteorologia, v. 29, n. 3, p. 21–25, 2005.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</a:rPr>
              <a:t>WEBER, B. L. et al. Preliminary evaluation of the first NOAA demonstration network wind profiler. Journal of atmospheric and oceanic technology, v. 7, n. 6, p. 909–918, 1990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